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7" r:id="rId4"/>
    <p:sldId id="261" r:id="rId5"/>
    <p:sldId id="259" r:id="rId6"/>
    <p:sldId id="262" r:id="rId7"/>
    <p:sldId id="266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 snapToObjects="1">
      <p:cViewPr>
        <p:scale>
          <a:sx n="75" d="100"/>
          <a:sy n="75" d="100"/>
        </p:scale>
        <p:origin x="811" y="2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6EF464-B52C-4B4A-93F5-D4A7BD710309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0AACF2-F54D-499E-BAE1-B69ADE55F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855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AACF2-F54D-499E-BAE1-B69ADE55F0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9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AACF2-F54D-499E-BAE1-B69ADE55F0A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422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336" y="2149120"/>
            <a:ext cx="103601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Sales Intelligence Pipeline</a:t>
            </a:r>
          </a:p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rPr lang="en-US" sz="1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Transforming Raw Transactional Data into Actionable Business Intelligence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BFFA7E-DB24-DEA7-6606-04AB37D470F0}"/>
              </a:ext>
            </a:extLst>
          </p:cNvPr>
          <p:cNvSpPr txBox="1"/>
          <p:nvPr/>
        </p:nvSpPr>
        <p:spPr>
          <a:xfrm>
            <a:off x="9527900" y="4592646"/>
            <a:ext cx="1241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US" sz="1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Nehasri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4376" y="490680"/>
            <a:ext cx="112745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rial"/>
              </a:defRPr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75302" y="1445280"/>
            <a:ext cx="9638217" cy="330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businesses need to track sales performance and understand customer behavior.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growth opportunities, high-value customers, and buying patterns can be challenging.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also need to monitor inventory and product performance.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an end-to-end analytics solution to generate insights from raw transactional data using multiple data analytics tools. 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transform raw retail transactional data into meaningful business insights for better analysis and management.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945616-B78A-2C58-2311-0864E0A12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829011"/>
              </p:ext>
            </p:extLst>
          </p:nvPr>
        </p:nvGraphicFramePr>
        <p:xfrm>
          <a:off x="1108957" y="1425677"/>
          <a:ext cx="9970909" cy="484730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705728">
                  <a:extLst>
                    <a:ext uri="{9D8B030D-6E8A-4147-A177-3AD203B41FA5}">
                      <a16:colId xmlns:a16="http://schemas.microsoft.com/office/drawing/2014/main" val="359485779"/>
                    </a:ext>
                  </a:extLst>
                </a:gridCol>
                <a:gridCol w="3648939">
                  <a:extLst>
                    <a:ext uri="{9D8B030D-6E8A-4147-A177-3AD203B41FA5}">
                      <a16:colId xmlns:a16="http://schemas.microsoft.com/office/drawing/2014/main" val="2433867791"/>
                    </a:ext>
                  </a:extLst>
                </a:gridCol>
                <a:gridCol w="4616242">
                  <a:extLst>
                    <a:ext uri="{9D8B030D-6E8A-4147-A177-3AD203B41FA5}">
                      <a16:colId xmlns:a16="http://schemas.microsoft.com/office/drawing/2014/main" val="1245929219"/>
                    </a:ext>
                  </a:extLst>
                </a:gridCol>
              </a:tblGrid>
              <a:tr h="5693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Tasks Completed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999" marR="72999" marT="36500" marB="36500" anchor="ctr"/>
                </a:tc>
                <a:extLst>
                  <a:ext uri="{0D108BD9-81ED-4DB2-BD59-A6C34878D82A}">
                    <a16:rowId xmlns:a16="http://schemas.microsoft.com/office/drawing/2014/main" val="2278110398"/>
                  </a:ext>
                </a:extLst>
              </a:tr>
              <a:tr h="118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Cleaning &amp; Preparation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Cleaned data, handled missing values &amp; duplicates, created Total_Price, prepared CSV files</a:t>
                      </a:r>
                    </a:p>
                  </a:txBody>
                  <a:tcPr marL="72999" marR="72999" marT="36500" marB="36500" anchor="ctr"/>
                </a:tc>
                <a:extLst>
                  <a:ext uri="{0D108BD9-81ED-4DB2-BD59-A6C34878D82A}">
                    <a16:rowId xmlns:a16="http://schemas.microsoft.com/office/drawing/2014/main" val="1887772000"/>
                  </a:ext>
                </a:extLst>
              </a:tr>
              <a:tr h="958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Storage &amp; Analysis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Created relational tables, imported data, performed JOINs, sales/customer/staff analysis, stock alerts</a:t>
                      </a:r>
                    </a:p>
                  </a:txBody>
                  <a:tcPr marL="72999" marR="72999" marT="36500" marB="36500" anchor="ctr"/>
                </a:tc>
                <a:extLst>
                  <a:ext uri="{0D108BD9-81ED-4DB2-BD59-A6C34878D82A}">
                    <a16:rowId xmlns:a16="http://schemas.microsoft.com/office/drawing/2014/main" val="2725731508"/>
                  </a:ext>
                </a:extLst>
              </a:tr>
              <a:tr h="958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Analysis &amp; Segmentation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Performed EDA, 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calculated RFM, analyzed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behavior, performed customer segmentation</a:t>
                      </a:r>
                    </a:p>
                  </a:txBody>
                  <a:tcPr marL="72999" marR="72999" marT="36500" marB="36500" anchor="ctr"/>
                </a:tc>
                <a:extLst>
                  <a:ext uri="{0D108BD9-81ED-4DB2-BD59-A6C34878D82A}">
                    <a16:rowId xmlns:a16="http://schemas.microsoft.com/office/drawing/2014/main" val="1814016262"/>
                  </a:ext>
                </a:extLst>
              </a:tr>
              <a:tr h="118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BI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Visualization &amp; Reporting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Built data model, KPIs, sales/product/customer analysis, inventory &amp; staff visuals, interactive dashboard</a:t>
                      </a:r>
                    </a:p>
                  </a:txBody>
                  <a:tcPr marL="72999" marR="72999" marT="36500" marB="36500" anchor="ctr"/>
                </a:tc>
                <a:extLst>
                  <a:ext uri="{0D108BD9-81ED-4DB2-BD59-A6C34878D82A}">
                    <a16:rowId xmlns:a16="http://schemas.microsoft.com/office/drawing/2014/main" val="35501125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E5F596E-42B5-2648-7322-0F77A0861312}"/>
              </a:ext>
            </a:extLst>
          </p:cNvPr>
          <p:cNvSpPr txBox="1"/>
          <p:nvPr/>
        </p:nvSpPr>
        <p:spPr>
          <a:xfrm>
            <a:off x="457135" y="379548"/>
            <a:ext cx="112745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rial"/>
              </a:defRPr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Architecture &amp; Execution Pipeline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4682B4"/>
                </a:solidFill>
                <a:latin typeface="Arial"/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Framework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913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107" y="537747"/>
            <a:ext cx="112745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rial"/>
              </a:defRPr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Architecture &amp; Operational Warehousing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11107" y="1436458"/>
            <a:ext cx="5498776" cy="5010842"/>
          </a:xfrm>
          <a:prstGeom prst="roundRect">
            <a:avLst/>
          </a:prstGeom>
          <a:solidFill>
            <a:srgbClr val="FFFFFF"/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107" y="1408917"/>
            <a:ext cx="5498776" cy="6275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lang="en-US" sz="1400" b="1" dirty="0">
                <a:solidFill>
                  <a:schemeClr val="tx1"/>
                </a:solidFill>
              </a:rPr>
              <a:t>Relational Schema &amp; Warehousing Execution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86883" y="1436458"/>
            <a:ext cx="5498776" cy="5010842"/>
          </a:xfrm>
          <a:prstGeom prst="roundRect">
            <a:avLst/>
          </a:prstGeom>
          <a:solidFill>
            <a:srgbClr val="FFFFFF"/>
          </a:solidFill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86883" y="1403213"/>
            <a:ext cx="5498776" cy="62754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lang="en-US" sz="1400" b="1" dirty="0">
                <a:solidFill>
                  <a:schemeClr val="tx1"/>
                </a:solidFill>
              </a:rPr>
              <a:t>Core Business Discoveries &amp; Rules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AE60D9C-D884-68EB-B093-DF066FBFD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475" y="2200965"/>
            <a:ext cx="4892039" cy="28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Infrastructure: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Initialized the centralized retail relational schema, deploying 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mapped data tables (including brands, categories, customers, and products).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Lake Ingestion: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Loaded the cleaned master tables into SQL using native table import routines, securing structural integrity.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Relational Unified View: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Programmed a multi-table internal JOIN sequence binding order logs, transaction items, and inventory attributes into an active sales overview. 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C80E3A8-F137-E9D0-D300-9058E31ED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658" y="181137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5">
            <a:extLst>
              <a:ext uri="{FF2B5EF4-FFF2-40B4-BE49-F238E27FC236}">
                <a16:creationId xmlns:a16="http://schemas.microsoft.com/office/drawing/2014/main" id="{F087032B-10EF-009E-E9D0-77613922C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1160" y="2128089"/>
            <a:ext cx="5102008" cy="38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 Mapping: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Grouped total net sales values dynamically across active storefront allocations (Store _id).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Velocity Tracking: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Isolated the top 5 highest-selling products by quantity using sorting limits.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Proactive Stock Alerts: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Flagged all products with low store inventory levels (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Stock &lt; 10 units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to prevent out-of-stock events 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Budget Brackets: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Coded conditional server rules to rank customers into three spending tiers based on historical lifetime revenue:  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Spend: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Up to $10,000,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Medium Spend: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$10,001 to $35,000, </a:t>
            </a: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Spend: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Over $35,000.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Warehouse Target: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Constructed a primary-keyed customer_ segments repository table to store future customer metrics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89695"/>
            <a:ext cx="112745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rial"/>
              </a:defRPr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&amp; Feature Engineering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6E08FD-4CB0-E358-A549-ACDF885DDB91}"/>
              </a:ext>
            </a:extLst>
          </p:cNvPr>
          <p:cNvSpPr txBox="1"/>
          <p:nvPr/>
        </p:nvSpPr>
        <p:spPr>
          <a:xfrm>
            <a:off x="925252" y="1689076"/>
            <a:ext cx="1033832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sz="1600" b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Live Ingestion:</a:t>
            </a:r>
            <a:r>
              <a:rPr lang="en-US" sz="1600" b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Established programmatic bridges using engine connectors to read production backend tables directly into Pandas </a:t>
            </a:r>
            <a:r>
              <a:rPr lang="en-US" sz="1600" b="0" u="none" strike="noStrike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r>
              <a:rPr lang="en-US" sz="1600" b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sz="1600" b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Structural Diagnosis:</a:t>
            </a:r>
            <a:r>
              <a:rPr lang="en-US" sz="1600" b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Ran descriptive summary statistics (.describe(), .info()) and Matplotlib/Seaborn plots to evaluate target metrics.</a:t>
            </a:r>
          </a:p>
          <a:p>
            <a:pPr marL="285750" indent="-28575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sz="1600" b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Behavior Behavioral Profiling (RFM):</a:t>
            </a:r>
            <a:r>
              <a:rPr lang="en-US" sz="1600" b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Modeled core customer activity metrics:</a:t>
            </a:r>
          </a:p>
          <a:p>
            <a:pPr marL="74295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b="0" i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Recency:</a:t>
            </a:r>
            <a:r>
              <a:rPr lang="en-US" sz="1600" b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Calculated exact days elapsed since a customer's last purchase transaction.</a:t>
            </a:r>
          </a:p>
          <a:p>
            <a:pPr marL="74295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b="0" i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Frequency:</a:t>
            </a:r>
            <a:r>
              <a:rPr lang="en-US" sz="1600" b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Counted cumulative distinct order instances per buyer.</a:t>
            </a:r>
          </a:p>
          <a:p>
            <a:pPr marL="742950" lvl="1" indent="-28575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b="0" i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Monetary:</a:t>
            </a:r>
            <a:r>
              <a:rPr lang="en-US" sz="1600" b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Summarized total financial wallet share captured per buyer profile.</a:t>
            </a:r>
          </a:p>
          <a:p>
            <a:pPr marL="285750" indent="-28575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lang="en-US" sz="1600" b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Feedback:</a:t>
            </a:r>
            <a:r>
              <a:rPr lang="en-US" sz="1600" b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Programmatically synced calculated user segmentation categories back into the operational database environment.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D38FB0B7-D30F-1810-922A-0C42600D0AF1}"/>
              </a:ext>
            </a:extLst>
          </p:cNvPr>
          <p:cNvSpPr txBox="1"/>
          <p:nvPr/>
        </p:nvSpPr>
        <p:spPr>
          <a:xfrm>
            <a:off x="589280" y="461533"/>
            <a:ext cx="112745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C2340"/>
                </a:solidFill>
                <a:latin typeface="Arial"/>
              </a:defRPr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Executive Review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A6C920C-1DE7-0813-00CE-8AADAABA2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175397"/>
              </p:ext>
            </p:extLst>
          </p:nvPr>
        </p:nvGraphicFramePr>
        <p:xfrm>
          <a:off x="955040" y="1831180"/>
          <a:ext cx="10302240" cy="425466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151120">
                  <a:extLst>
                    <a:ext uri="{9D8B030D-6E8A-4147-A177-3AD203B41FA5}">
                      <a16:colId xmlns:a16="http://schemas.microsoft.com/office/drawing/2014/main" val="1194514811"/>
                    </a:ext>
                  </a:extLst>
                </a:gridCol>
                <a:gridCol w="5151120">
                  <a:extLst>
                    <a:ext uri="{9D8B030D-6E8A-4147-A177-3AD203B41FA5}">
                      <a16:colId xmlns:a16="http://schemas.microsoft.com/office/drawing/2014/main" val="4176677761"/>
                    </a:ext>
                  </a:extLst>
                </a:gridCol>
              </a:tblGrid>
              <a:tr h="4363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WE BUILT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BUSINESS INSIGHTS</a:t>
                      </a:r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6473059"/>
                  </a:ext>
                </a:extLst>
              </a:tr>
              <a:tr h="76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Executive KPIs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— $8.58M Revenue • $5.31K AOV • 1615K Orders • 1K Active 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York (NY):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Highest sales share (68%)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0578545"/>
                  </a:ext>
                </a:extLst>
              </a:tr>
              <a:tr h="76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2-Page Dashboard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— Sales Overview + Operations &amp; Customer Action Center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 &amp; TX: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Secondary markets (21% and 11%)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2459478"/>
                  </a:ext>
                </a:extLst>
              </a:tr>
              <a:tr h="76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Geographic Analysis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— Regional sales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 Sales Reps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Marcelene Boyer &amp; Venita Daniel (~$2.9M each)</a:t>
                      </a:r>
                      <a:endParaRPr lang="pt-BR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2549436"/>
                  </a:ext>
                </a:extLst>
              </a:tr>
              <a:tr h="76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Employee Performance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— Revenue contribution by staff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323 Low-Stock Lines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Product-store stock below 10 units (221 products)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329614"/>
                  </a:ext>
                </a:extLst>
              </a:tr>
              <a:tr h="763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Inventory Risk Monitor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— Critical-stock alerts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Electra Cruiser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20 of 57 store-level stock lines below 10 units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4707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0068549A-7E78-D836-522B-FFBEF5EB13E8}"/>
              </a:ext>
            </a:extLst>
          </p:cNvPr>
          <p:cNvSpPr txBox="1"/>
          <p:nvPr/>
        </p:nvSpPr>
        <p:spPr>
          <a:xfrm>
            <a:off x="802640" y="1119086"/>
            <a:ext cx="3190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🔗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Interactive Dashboard - 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FAD3366-5A23-2815-AD23-904085183D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5392544"/>
              </p:ext>
            </p:extLst>
          </p:nvPr>
        </p:nvGraphicFramePr>
        <p:xfrm>
          <a:off x="3993502" y="1044989"/>
          <a:ext cx="15779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577446" imgH="518081" progId="Package">
                  <p:embed/>
                </p:oleObj>
              </mc:Choice>
              <mc:Fallback>
                <p:oleObj name="Packager Shell Object" showAsIcon="1" r:id="rId2" imgW="1577446" imgH="51808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93502" y="1044989"/>
                        <a:ext cx="1577975" cy="5175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3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494386-9DD2-54DC-2478-2A74EC082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C03AA2-933D-FE9D-E25A-39729B570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5"/>
            <a:ext cx="12188825" cy="68579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355B0E-87C3-78BA-2303-CCC8BC98DA60}"/>
              </a:ext>
            </a:extLst>
          </p:cNvPr>
          <p:cNvSpPr txBox="1"/>
          <p:nvPr/>
        </p:nvSpPr>
        <p:spPr>
          <a:xfrm>
            <a:off x="10646228" y="6401905"/>
            <a:ext cx="13999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Thank you</a:t>
            </a:r>
          </a:p>
        </p:txBody>
      </p:sp>
    </p:spTree>
    <p:extLst>
      <p:ext uri="{BB962C8B-B14F-4D97-AF65-F5344CB8AC3E}">
        <p14:creationId xmlns:p14="http://schemas.microsoft.com/office/powerpoint/2010/main" val="1460799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1151</TotalTime>
  <Words>638</Words>
  <Application>Microsoft Office PowerPoint</Application>
  <PresentationFormat>Custom</PresentationFormat>
  <Paragraphs>65</Paragraphs>
  <Slides>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Times New Roman</vt:lpstr>
      <vt:lpstr>Wingdings</vt:lpstr>
      <vt:lpstr>Office Theme</vt:lpstr>
      <vt:lpstr>Packager Shell Object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Welcome</dc:creator>
  <cp:keywords/>
  <dc:description>generated using python-pptx</dc:description>
  <cp:lastModifiedBy>Nehasri M</cp:lastModifiedBy>
  <cp:revision>9</cp:revision>
  <dcterms:created xsi:type="dcterms:W3CDTF">2013-01-27T09:14:16Z</dcterms:created>
  <dcterms:modified xsi:type="dcterms:W3CDTF">2026-09-24T10:33:01Z</dcterms:modified>
  <cp:category/>
</cp:coreProperties>
</file>